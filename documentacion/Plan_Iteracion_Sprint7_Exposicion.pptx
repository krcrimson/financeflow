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D4B2"/>
                </a:solidFill>
                <a:latin typeface="Calibri"/>
              </a:rPr>
              <a:t>PLAN DE ITERACION - SPRINT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Mantenimiento Post-Entrega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8E1EA"/>
                </a:solidFill>
                <a:latin typeface="Calibri"/>
              </a:rPr>
              <a:t>FinanceFlow - de v1.3.0 a v1.4.0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FB3C8"/>
                </a:solidFill>
                <a:latin typeface="Calibri"/>
              </a:rPr>
              <a:t>Sebastian Arce Bracamonte  .  Brant Antony Chata Choque  .  Construccion de Software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Por que este sprint?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 b="1">
                <a:solidFill>
                  <a:srgbClr val="FFFFFF"/>
                </a:solidFill>
                <a:latin typeface="Calibri"/>
              </a:rPr>
              <a:t>Sprint 6 se cerro como "entregable final" </a:t>
            </a:r>
            <a:r>
              <a:rPr sz="2200">
                <a:solidFill>
                  <a:srgbClr val="D8E1EA"/>
                </a:solidFill>
                <a:latin typeface="Calibri"/>
              </a:rPr>
              <a:t>(15.06.2026), pero funcionaba sin cumplir del todo la Definicion de Hecho del equipo.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 b="1">
                <a:solidFill>
                  <a:srgbClr val="FFFFFF"/>
                </a:solidFill>
                <a:latin typeface="Calibri"/>
              </a:rPr>
              <a:t>4 pendientes criticos quedaron registrados </a:t>
            </a:r>
            <a:r>
              <a:rPr sz="2200">
                <a:solidFill>
                  <a:srgbClr val="D8E1EA"/>
                </a:solidFill>
                <a:latin typeface="Calibri"/>
              </a:rPr>
              <a:t>en el propio informe de cierre: pruebas sin automatizar, pagina faltante, funcion sin implementar y documentacion incompleta.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 b="1">
                <a:solidFill>
                  <a:srgbClr val="FFFFFF"/>
                </a:solidFill>
                <a:latin typeface="Calibri"/>
              </a:rPr>
              <a:t>El riesgo: </a:t>
            </a:r>
            <a:r>
              <a:rPr sz="2200">
                <a:solidFill>
                  <a:srgbClr val="D8E1EA"/>
                </a:solidFill>
                <a:latin typeface="Calibri"/>
              </a:rPr>
              <a:t>pendientes sueltos, sin dueno ni fecha, se olvidan. Un Plan de Iteracion los convierte en un ciclo corto y verificable.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SPRINTS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1920240" cy="50292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A2540"/>
                </a:solidFill>
                <a:latin typeface="Calibri"/>
              </a:rPr>
              <a:t>SPRINT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FB3C8"/>
                </a:solidFill>
                <a:latin typeface="Calibri"/>
              </a:rPr>
              <a:t>18-12-2025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Fundacion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Monorepo backend/frontend creado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Primer despliegue en Render (backend) y Vercel (frontend)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Correccion de seguridad: credenciales reales removidas del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SPRINTS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1920240" cy="50292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A2540"/>
                </a:solidFill>
                <a:latin typeface="Calibri"/>
              </a:rPr>
              <a:t>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FB3C8"/>
                </a:solidFill>
                <a:latin typeface="Calibri"/>
              </a:rPr>
              <a:t>05 al 06-01-2026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CRUD Core, Alertas y SDK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CRUD de movimientos con categorias personalizables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Alertas Inteligentes y Planificador de Compras v1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Migracion completa a arquitectura SDK Balance propia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SPRINTS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1920240" cy="50292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A2540"/>
                </a:solidFill>
                <a:latin typeface="Calibri"/>
              </a:rPr>
              <a:t>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FB3C8"/>
                </a:solidFill>
                <a:latin typeface="Calibri"/>
              </a:rPr>
              <a:t>03-04-2026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Integracion de Inteligencia Artificial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Microservicio Python de OCR + NLP integrado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Modelo Naive Bayes + TF-IDF para categorizar gastos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Dockerfile optimizado para no caer por memoria en Render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SPRINTS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1920240" cy="50292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A2540"/>
                </a:solidFill>
                <a:latin typeface="Calibri"/>
              </a:rPr>
              <a:t>SPRINT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FB3C8"/>
                </a:solidFill>
                <a:latin typeface="Calibri"/>
              </a:rPr>
              <a:t>03 al 04-04-2026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Consolidacion de IA y base movil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Reentrenamiento continuo (endpoint /retrain, Human-in-the-Loop)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Fallback robusto de OCR + graficos Recharts mejorados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Scaffold inicial del cliente React Native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SPRINTS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1920240" cy="50292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A2540"/>
                </a:solidFill>
                <a:latin typeface="Calibri"/>
              </a:rPr>
              <a:t>SPRINT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FB3C8"/>
                </a:solidFill>
                <a:latin typeface="Calibri"/>
              </a:rPr>
              <a:t>31-05-2026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Recuperacion de Cuentas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Envio real de correos de recuperacion via Brevo API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Modo demo de respaldo si el SMTP falla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CORS dinamico para subdominios de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SPRINTS ANTERIORES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1920240" cy="50292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A2540"/>
                </a:solidFill>
                <a:latin typeface="Calibri"/>
              </a:rPr>
              <a:t>SPRINT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66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FB3C8"/>
                </a:solidFill>
                <a:latin typeface="Calibri"/>
              </a:rPr>
              <a:t>15-06-2026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Planificador y Perfil de Usuario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RF-15 Perfil de Usuario: completo y funcional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RF-12 Planificador: logica correcta, pero como componente embebido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00D4B2"/>
                </a:solidFill>
                <a:latin typeface="Calibri"/>
              </a:rPr>
              <a:t>›  </a:t>
            </a:r>
            <a:r>
              <a:rPr sz="2200">
                <a:solidFill>
                  <a:srgbClr val="D8E1EA"/>
                </a:solidFill>
                <a:latin typeface="Calibri"/>
              </a:rPr>
              <a:t>4 pendientes criticos quedaron para el Sprint 7 (este plan)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Objetivo de la iteracion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D8E1EA"/>
                </a:solidFill>
                <a:latin typeface="Calibri"/>
              </a:rPr>
              <a:t>Cerrar los 4 pendientes criticos del Sprint 6, sin tocar lo ya aceptado (RF-12, RF-15).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D4B2"/>
                </a:solidFill>
                <a:latin typeface="Calibri"/>
              </a:rPr>
              <a:t>Sprint de "hardening", no de features nuevas.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FB3C8"/>
                </a:solidFill>
                <a:latin typeface="Calibri"/>
              </a:rPr>
              <a:t>Criterio de exito: al terminar, cualquiera puede correr "npm test" y abrir las URLs documentadas y verificar todo sin intervencion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Que entra y que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INCLUIDO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0D4B2"/>
                </a:solidFill>
                <a:latin typeface="Calibri"/>
              </a:rPr>
              <a:t>›  </a:t>
            </a:r>
            <a:r>
              <a:rPr sz="1900">
                <a:solidFill>
                  <a:srgbClr val="D8E1EA"/>
                </a:solidFill>
                <a:latin typeface="Calibri"/>
              </a:rPr>
              <a:t>Automatizar 5 tests (CP-38 a CP-42)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0D4B2"/>
                </a:solidFill>
                <a:latin typeface="Calibri"/>
              </a:rPr>
              <a:t>›  </a:t>
            </a:r>
            <a:r>
              <a:rPr sz="1900">
                <a:solidFill>
                  <a:srgbClr val="D8E1EA"/>
                </a:solidFill>
                <a:latin typeface="Calibri"/>
              </a:rPr>
              <a:t>Pagina independiente /planificador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0D4B2"/>
                </a:solidFill>
                <a:latin typeface="Calibri"/>
              </a:rPr>
              <a:t>›  </a:t>
            </a:r>
            <a:r>
              <a:rPr sz="1900">
                <a:solidFill>
                  <a:srgbClr val="D8E1EA"/>
                </a:solidFill>
                <a:latin typeface="Calibri"/>
              </a:rPr>
              <a:t>Eliminar cuenta funcional de verdad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00D4B2"/>
                </a:solidFill>
                <a:latin typeface="Calibri"/>
              </a:rPr>
              <a:t>›  </a:t>
            </a:r>
            <a:r>
              <a:rPr sz="1900">
                <a:solidFill>
                  <a:srgbClr val="D8E1EA"/>
                </a:solidFill>
                <a:latin typeface="Calibri"/>
              </a:rPr>
              <a:t>URLs reales de produccion documentadas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FB3C8"/>
                </a:solidFill>
                <a:latin typeface="Calibri"/>
              </a:rPr>
              <a:t>FUERA DE ALCANCE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9FB3C8"/>
                </a:solidFill>
                <a:latin typeface="Calibri"/>
              </a:rPr>
              <a:t>›  </a:t>
            </a:r>
            <a:r>
              <a:rPr sz="1900">
                <a:solidFill>
                  <a:srgbClr val="9FB3C8"/>
                </a:solidFill>
                <a:latin typeface="Calibri"/>
              </a:rPr>
              <a:t>Nuevos Requerimientos Funcionales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9FB3C8"/>
                </a:solidFill>
                <a:latin typeface="Calibri"/>
              </a:rPr>
              <a:t>›  </a:t>
            </a:r>
            <a:r>
              <a:rPr sz="1900">
                <a:solidFill>
                  <a:srgbClr val="9FB3C8"/>
                </a:solidFill>
                <a:latin typeface="Calibri"/>
              </a:rPr>
              <a:t>CI/CD con GitHub Actions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9FB3C8"/>
                </a:solidFill>
                <a:latin typeface="Calibri"/>
              </a:rPr>
              <a:t>›  </a:t>
            </a:r>
            <a:r>
              <a:rPr sz="1900">
                <a:solidFill>
                  <a:srgbClr val="9FB3C8"/>
                </a:solidFill>
                <a:latin typeface="Calibri"/>
              </a:rPr>
              <a:t>Desarrollo del cliente React Native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10 dias habiles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881360" cy="713232"/>
          </a:xfrm>
          <a:prstGeom prst="rect">
            <a:avLst/>
          </a:prstGeom>
          <a:solidFill>
            <a:srgbClr val="11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Dia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642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3C8"/>
                </a:solidFill>
                <a:latin typeface="Calibri"/>
              </a:rPr>
              <a:t>10-09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6420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Planificacion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10881360" cy="713232"/>
          </a:xfrm>
          <a:prstGeom prst="rect">
            <a:avLst/>
          </a:prstGeom>
          <a:solidFill>
            <a:srgbClr val="11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Dias 2-6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0545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3C8"/>
                </a:solidFill>
                <a:latin typeface="Calibri"/>
              </a:rPr>
              <a:t>11 al 17-09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0545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Ejecucion: A1-A4 en paralelo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36976"/>
            <a:ext cx="10881360" cy="713232"/>
          </a:xfrm>
          <a:prstGeom prst="rect">
            <a:avLst/>
          </a:prstGeom>
          <a:solidFill>
            <a:srgbClr val="11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467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Dia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4670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3C8"/>
                </a:solidFill>
                <a:latin typeface="Calibri"/>
              </a:rPr>
              <a:t>18-09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46704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Revision parcial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78224"/>
            <a:ext cx="10881360" cy="713232"/>
          </a:xfrm>
          <a:prstGeom prst="rect">
            <a:avLst/>
          </a:prstGeom>
          <a:solidFill>
            <a:srgbClr val="11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Dias 8-9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87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3C8"/>
                </a:solidFill>
                <a:latin typeface="Calibri"/>
              </a:rPr>
              <a:t>21 al 22-09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8795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Deploy y cierre tecnico (A5)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19472"/>
            <a:ext cx="10881360" cy="713232"/>
          </a:xfrm>
          <a:prstGeom prst="rect">
            <a:avLst/>
          </a:prstGeom>
          <a:solidFill>
            <a:srgbClr val="11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Dia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29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3C8"/>
                </a:solidFill>
                <a:latin typeface="Calibri"/>
              </a:rPr>
              <a:t>23-09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0292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Entrega y Sprint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D4B2"/>
                </a:solidFill>
                <a:latin typeface="Calibri"/>
              </a:rPr>
              <a:t>RIESGOS Y CRITERIOS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65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9FB3C8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Que vigilamos y como sabremos que salio bien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05840" cy="50800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RIESGO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0D4B2"/>
                </a:solidFill>
                <a:latin typeface="Calibri"/>
              </a:rPr>
              <a:t>›  </a:t>
            </a:r>
            <a:r>
              <a:rPr sz="1800">
                <a:solidFill>
                  <a:srgbClr val="D8E1EA"/>
                </a:solidFill>
                <a:latin typeface="Calibri"/>
              </a:rPr>
              <a:t>Eliminar cuenta es irreversible -&gt; se implementa primero como soft-delete y se prueba antes de confiar en ella.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0D4B2"/>
                </a:solidFill>
                <a:latin typeface="Calibri"/>
              </a:rPr>
              <a:t>›  </a:t>
            </a:r>
            <a:r>
              <a:rPr sz="1800">
                <a:solidFill>
                  <a:srgbClr val="D8E1EA"/>
                </a:solidFill>
                <a:latin typeface="Calibri"/>
              </a:rPr>
              <a:t>Cold starts del free tier de Render pueden afectar la verificacion de URLs.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CRITERIOS DE ACEPTACION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0D4B2"/>
                </a:solidFill>
                <a:latin typeface="Calibri"/>
              </a:rPr>
              <a:t>›  </a:t>
            </a:r>
            <a:r>
              <a:rPr sz="1800">
                <a:solidFill>
                  <a:srgbClr val="D8E1EA"/>
                </a:solidFill>
                <a:latin typeface="Calibri"/>
              </a:rPr>
              <a:t>npm test: 99/99 pruebas en verde (94 existentes + 5 nuevas)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0D4B2"/>
                </a:solidFill>
                <a:latin typeface="Calibri"/>
              </a:rPr>
              <a:t>›  </a:t>
            </a:r>
            <a:r>
              <a:rPr sz="1800">
                <a:solidFill>
                  <a:srgbClr val="D8E1EA"/>
                </a:solidFill>
                <a:latin typeface="Calibri"/>
              </a:rPr>
              <a:t>/planificador navegable por URL directa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0D4B2"/>
                </a:solidFill>
                <a:latin typeface="Calibri"/>
              </a:rPr>
              <a:t>›  </a:t>
            </a:r>
            <a:r>
              <a:rPr sz="1800">
                <a:solidFill>
                  <a:srgbClr val="D8E1EA"/>
                </a:solidFill>
                <a:latin typeface="Calibri"/>
              </a:rPr>
              <a:t>Cuenta eliminada no puede volver a iniciar sesion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00D4B2"/>
                </a:solidFill>
                <a:latin typeface="Calibri"/>
              </a:rPr>
              <a:t>›  </a:t>
            </a:r>
            <a:r>
              <a:rPr sz="1800">
                <a:solidFill>
                  <a:srgbClr val="D8E1EA"/>
                </a:solidFill>
                <a:latin typeface="Calibri"/>
              </a:rPr>
              <a:t>URLs reales documentadas y verificadas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D4B2"/>
                </a:solidFill>
                <a:latin typeface="Calibri"/>
              </a:rPr>
              <a:t>RESULTADO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FinanceFlow v1.4.0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8E1EA"/>
                </a:solidFill>
                <a:latin typeface="Calibri"/>
              </a:rPr>
              <a:t>Deuda tecnica del Sprint 6 cerrada y verificable, sin intervencion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3C8"/>
                </a:solidFill>
                <a:latin typeface="Calibri"/>
              </a:rPr>
              <a:t>Gracias -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