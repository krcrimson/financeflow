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UNIVERSIDAD PRIVADA DE TACNA • ESCUELA PROFESIONAL DE INGENIERÍA DE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FinanceFlow — Sistema de Gestión Financiera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Informe Ejecutivo de Estado &amp; Arquitectura de Abstracción (v1.3.0)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Plataforma integral de balance económico potenciada con Inteligencia Artificial (Gemini Vision OCR), clasificación probabilística (Naive Bayes) y desacoplamiento enterprise mediante SDK propio.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97680"/>
            <a:ext cx="3108960" cy="128016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4434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EQUIPO DE DESARROLLO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Sebastian Arce Bracamonte</a:t>
            </a:r>
            <a:br/>
            <a:r>
              <a:t>Brant Antony Chata Choque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297680"/>
            <a:ext cx="3108960" cy="128016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4434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SUPERVISIÓN ACADÉMICA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Mag. Ricardo Valcárcel Alvarado</a:t>
            </a:r>
            <a:br/>
            <a:r>
              <a:t>Construcción de Software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297680"/>
            <a:ext cx="3108960" cy="128016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59" y="4434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PARÁMETROS DE EXPOSICIÓN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Tiempo Objetivo: &lt; 5 Minutos</a:t>
            </a:r>
            <a:br/>
            <a:r>
              <a:t>Estado del Sistema: v1.3.0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01. RESUMEN EJECUTIVO &amp; ESTADO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Avance Global del Sistema: 92% Consolidado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E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2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13455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B981"/>
                </a:solidFill>
              </a:defRPr>
            </a:pPr>
            <a:r>
              <a:t>92%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AVANCE GENERAL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Sistema implementado y operativo; en fase de hardening y estabilización (Sprint 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13455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15 / 15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REQUERIMIENTOS SRS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100% de funcionalidades core desarrolladas (Auth, Movimientos, OCR, Reportes)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413455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59E0B"/>
                </a:solidFill>
              </a:defRPr>
            </a:pPr>
            <a:r>
              <a:t>66 / 66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TESTS SDK PARALELOS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100% éxito en pruebas de carga y estrés; latencia media ultraestable de 172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212080" cy="3017520"/>
          </a:xfrm>
          <a:prstGeom prst="roundRect">
            <a:avLst/>
          </a:prstGeom>
          <a:solidFill>
            <a:srgbClr val="16213E"/>
          </a:solidFill>
          <a:ln>
            <a:solidFill>
              <a:srgbClr val="2E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4846320" cy="238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300" b="1">
                <a:solidFill>
                  <a:srgbClr val="10B981"/>
                </a:solidFill>
              </a:defRPr>
            </a:pPr>
            <a:r>
              <a:t>🎯 PROBLEMA &amp; VALOR RESUELTO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• Fricción Cero en Registro: Erradica el llenado manual de gastos mediante escaneo inteligente de comprobantes (Yape, Plin, BCP).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• Toma de Decisiones en Tiempo Real: Planificador matemático que proyecta compras según capacidad real de ahorro mensual.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• Integridad Contable Impecable: Cierre y reposición de caja chica, bloqueo físico de periodos mensuales y autoarchivado M-2.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212080" cy="3017520"/>
          </a:xfrm>
          <a:prstGeom prst="roundRect">
            <a:avLst/>
          </a:prstGeom>
          <a:solidFill>
            <a:srgbClr val="16213E"/>
          </a:solidFill>
          <a:ln>
            <a:solidFill>
              <a:srgbClr val="2E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4846320" cy="238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300" b="1">
                <a:solidFill>
                  <a:srgbClr val="06B6D4"/>
                </a:solidFill>
              </a:defRPr>
            </a:pPr>
            <a:r>
              <a:t>💰 EFICIENCIA DE RECURSOS &amp; PREPARACIÓN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• Costo Cloud Cero (S/. 0.00): Infraestructura optimizada para niveles gratuitos en MongoDB Atlas, Vercel y Render sin costos ocultos.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• Presupuesto de Desarrollo: S/. 12,000 ejecutados (2 desarrolladores a 3 meses) con 93.75% de eficiencia financiera total.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• Auditoría de Seguridad Remediada: 12/12 hallazgos de seguridad certificados (CVSS 9.8 a 3.1) en modo Fail-Closed criptográfico.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02. CRONOGRAMA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Línea de Tiempo Oficial por Sprints e Hitos de Entrega (Gantt)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E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3 / 8</a:t>
            </a:r>
          </a:p>
        </p:txBody>
      </p:sp>
      <p:pic>
        <p:nvPicPr>
          <p:cNvPr id="7" name="Picture 6" descr="cronograma_finance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03. ARQUITECTURA DE 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 err="1"/>
              <a:t>Ecosistema</a:t>
            </a:r>
            <a:r>
              <a:rPr dirty="0"/>
              <a:t> Full-Stack </a:t>
            </a:r>
            <a:r>
              <a:rPr dirty="0" err="1"/>
              <a:t>Distribuido</a:t>
            </a:r>
            <a:r>
              <a:rPr dirty="0"/>
              <a:t> &amp; </a:t>
            </a:r>
            <a:r>
              <a:rPr dirty="0" err="1"/>
              <a:t>Inteligencia</a:t>
            </a:r>
            <a:r>
              <a:rPr dirty="0"/>
              <a:t> Artificial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E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4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499055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2224735" cy="226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200" b="1">
                <a:solidFill>
                  <a:srgbClr val="06B6D4"/>
                </a:solidFill>
              </a:defRPr>
            </a:pPr>
            <a:r>
              <a:rPr dirty="0"/>
              <a:t>FRONTEND &amp; MÓVIL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React 18 SPA (React Router v7)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Tailwind CSS + </a:t>
            </a:r>
            <a:r>
              <a:rPr dirty="0" err="1"/>
              <a:t>Recharts</a:t>
            </a:r>
            <a:r>
              <a:rPr dirty="0"/>
              <a:t> </a:t>
            </a:r>
            <a:r>
              <a:rPr dirty="0" err="1"/>
              <a:t>dinámicos</a:t>
            </a:r>
            <a:endParaRPr dirty="0"/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React Hook Form con </a:t>
            </a:r>
            <a:r>
              <a:rPr dirty="0" err="1"/>
              <a:t>Zod</a:t>
            </a:r>
            <a:r>
              <a:rPr dirty="0"/>
              <a:t> 4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Móvil</a:t>
            </a:r>
            <a:r>
              <a:rPr dirty="0"/>
              <a:t> React Native (Expo)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Admin Dashboard HTML5 </a:t>
            </a:r>
            <a:r>
              <a:rPr dirty="0" err="1"/>
              <a:t>independiente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499055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224735" cy="226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200" b="1">
                <a:solidFill>
                  <a:srgbClr val="10B981"/>
                </a:solidFill>
              </a:defRPr>
            </a:pPr>
            <a:r>
              <a:rPr dirty="0"/>
              <a:t>BACKEND REST API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Node.js 18 + Express v5.2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</a:t>
            </a:r>
            <a:r>
              <a:rPr dirty="0" err="1"/>
              <a:t>Patrón</a:t>
            </a:r>
            <a:r>
              <a:rPr dirty="0"/>
              <a:t> 3 </a:t>
            </a:r>
            <a:r>
              <a:rPr dirty="0" err="1"/>
              <a:t>Capas</a:t>
            </a:r>
            <a:r>
              <a:rPr dirty="0"/>
              <a:t> (Routes-Controllers-Services)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JWT </a:t>
            </a:r>
            <a:r>
              <a:rPr dirty="0" err="1"/>
              <a:t>estricto</a:t>
            </a:r>
            <a:r>
              <a:rPr dirty="0"/>
              <a:t> sin fallbacks (TTL 7d)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Helmet, CORS </a:t>
            </a:r>
            <a:r>
              <a:rPr dirty="0" err="1"/>
              <a:t>estricto</a:t>
            </a:r>
            <a:r>
              <a:rPr dirty="0"/>
              <a:t> &amp; Rate Limit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rPr dirty="0"/>
              <a:t>✓ </a:t>
            </a:r>
            <a:r>
              <a:rPr dirty="0" err="1"/>
              <a:t>Observabilidad</a:t>
            </a:r>
            <a:r>
              <a:rPr dirty="0"/>
              <a:t> Sentry Live </a:t>
            </a:r>
            <a:r>
              <a:rPr dirty="0" err="1"/>
              <a:t>en</a:t>
            </a:r>
            <a:r>
              <a:rPr dirty="0"/>
              <a:t>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499055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2224735" cy="226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200" b="1">
                <a:solidFill>
                  <a:srgbClr val="F59E0B"/>
                </a:solidFill>
              </a:defRPr>
            </a:pPr>
            <a:r>
              <a:t>MOTOR DE INTELIGENCIA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Google Gemini Pro Vision API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Microservicio Python 3.10 FastAPI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OpenCV (Binarización &amp; Filtros Gauss)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Pytesseract OCR + Regex extractor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Multinomial Naive Bayes + TF-IDF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508760"/>
            <a:ext cx="2499055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691640"/>
            <a:ext cx="2224735" cy="2879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200" b="1">
                <a:solidFill>
                  <a:srgbClr val="A855F7"/>
                </a:solidFill>
              </a:defRPr>
            </a:pPr>
            <a:r>
              <a:t>MONETIZACIÓN &amp; BD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MongoDB Atlas (Replica Set Mongoose)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Multi-Pasarela: Stripe (USD) &amp; Flow.cl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Mercado Pago (PEN) &amp; Yape Manual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Webhooks seguros HMAC Fail-Closed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✓ Cierres de Caja Chica &amp; Historial M-2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04. ESTADO DE ABSTRACCIÓN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Jerarquía de 6 Niveles y Patrones de Diseño Implementados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E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5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1621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3960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300" b="1">
                <a:solidFill>
                  <a:srgbClr val="06B6D4"/>
                </a:solidFill>
              </a:defRPr>
            </a:pPr>
            <a:r>
              <a:rPr dirty="0"/>
              <a:t>🏛️ JERARQUÍA DE CAPAS DE ABSTRACCIÓN</a:t>
            </a:r>
          </a:p>
          <a:p>
            <a:pPr>
              <a:lnSpc>
                <a:spcPct val="200000"/>
              </a:lnSpc>
              <a:defRPr sz="950">
                <a:solidFill>
                  <a:srgbClr val="E2E8F0"/>
                </a:solidFill>
              </a:defRPr>
            </a:pPr>
            <a:r>
              <a:rPr dirty="0"/>
              <a:t>• Nivel 5: </a:t>
            </a:r>
            <a:r>
              <a:rPr dirty="0" err="1"/>
              <a:t>Presentación</a:t>
            </a:r>
            <a:r>
              <a:rPr dirty="0"/>
              <a:t> (UI): React 18 SPA, Mobile Expo y Admin Portal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desacoplados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SQL/NoSQL.</a:t>
            </a:r>
          </a:p>
          <a:p>
            <a:pPr>
              <a:lnSpc>
                <a:spcPct val="200000"/>
              </a:lnSpc>
              <a:defRPr sz="950">
                <a:solidFill>
                  <a:srgbClr val="E2E8F0"/>
                </a:solidFill>
              </a:defRPr>
            </a:pPr>
            <a:r>
              <a:rPr dirty="0"/>
              <a:t>• Nivel 4: Estado &amp; Hooks: </a:t>
            </a:r>
            <a:r>
              <a:rPr dirty="0" err="1"/>
              <a:t>useAnalisisGastos</a:t>
            </a:r>
            <a:r>
              <a:rPr dirty="0"/>
              <a:t>, </a:t>
            </a:r>
            <a:r>
              <a:rPr dirty="0" err="1"/>
              <a:t>useAuth</a:t>
            </a:r>
            <a:r>
              <a:rPr dirty="0"/>
              <a:t> y </a:t>
            </a:r>
            <a:r>
              <a:rPr dirty="0" err="1"/>
              <a:t>useImageToMovimiento</a:t>
            </a:r>
            <a:r>
              <a:rPr dirty="0"/>
              <a:t> </a:t>
            </a:r>
            <a:r>
              <a:rPr dirty="0" err="1"/>
              <a:t>aíslan</a:t>
            </a:r>
            <a:r>
              <a:rPr dirty="0"/>
              <a:t> </a:t>
            </a:r>
            <a:r>
              <a:rPr dirty="0" err="1"/>
              <a:t>cálculos</a:t>
            </a:r>
            <a:r>
              <a:rPr dirty="0"/>
              <a:t> </a:t>
            </a:r>
            <a:r>
              <a:rPr dirty="0" err="1"/>
              <a:t>matemáticos</a:t>
            </a:r>
            <a:r>
              <a:rPr dirty="0"/>
              <a:t> y </a:t>
            </a:r>
            <a:r>
              <a:rPr dirty="0" err="1"/>
              <a:t>reactividad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defRPr sz="950">
                <a:solidFill>
                  <a:srgbClr val="E2E8F0"/>
                </a:solidFill>
              </a:defRPr>
            </a:pPr>
            <a:r>
              <a:rPr dirty="0"/>
              <a:t>• Nivel 3: </a:t>
            </a:r>
            <a:r>
              <a:rPr dirty="0" err="1"/>
              <a:t>Consumo</a:t>
            </a:r>
            <a:r>
              <a:rPr dirty="0"/>
              <a:t> &amp; SDK: </a:t>
            </a:r>
            <a:r>
              <a:rPr dirty="0" err="1"/>
              <a:t>Paquete</a:t>
            </a:r>
            <a:r>
              <a:rPr dirty="0"/>
              <a:t> @</a:t>
            </a:r>
            <a:r>
              <a:rPr dirty="0" err="1"/>
              <a:t>sistema</a:t>
            </a:r>
            <a:r>
              <a:rPr dirty="0"/>
              <a:t>-balance/</a:t>
            </a:r>
            <a:r>
              <a:rPr dirty="0" err="1"/>
              <a:t>sdk</a:t>
            </a:r>
            <a:r>
              <a:rPr dirty="0"/>
              <a:t> y </a:t>
            </a:r>
            <a:r>
              <a:rPr dirty="0" err="1"/>
              <a:t>adaptadores</a:t>
            </a:r>
            <a:r>
              <a:rPr dirty="0"/>
              <a:t> </a:t>
            </a:r>
            <a:r>
              <a:rPr dirty="0" err="1"/>
              <a:t>aíslan</a:t>
            </a:r>
            <a:r>
              <a:rPr dirty="0"/>
              <a:t> el </a:t>
            </a:r>
            <a:r>
              <a:rPr dirty="0" err="1"/>
              <a:t>protocolo</a:t>
            </a:r>
            <a:r>
              <a:rPr dirty="0"/>
              <a:t> HTTP y la </a:t>
            </a:r>
            <a:r>
              <a:rPr dirty="0" err="1"/>
              <a:t>gestión</a:t>
            </a:r>
            <a:r>
              <a:rPr dirty="0"/>
              <a:t> de tokens.</a:t>
            </a:r>
          </a:p>
          <a:p>
            <a:pPr>
              <a:lnSpc>
                <a:spcPct val="200000"/>
              </a:lnSpc>
              <a:defRPr sz="950">
                <a:solidFill>
                  <a:srgbClr val="E2E8F0"/>
                </a:solidFill>
              </a:defRPr>
            </a:pPr>
            <a:r>
              <a:rPr dirty="0"/>
              <a:t>• Nivel 2: </a:t>
            </a:r>
            <a:r>
              <a:rPr dirty="0" err="1"/>
              <a:t>Aplicación</a:t>
            </a:r>
            <a:r>
              <a:rPr dirty="0"/>
              <a:t> &amp; Router: Express Routers, </a:t>
            </a:r>
            <a:r>
              <a:rPr dirty="0" err="1"/>
              <a:t>validadores</a:t>
            </a:r>
            <a:r>
              <a:rPr dirty="0"/>
              <a:t> </a:t>
            </a:r>
            <a:r>
              <a:rPr dirty="0" err="1"/>
              <a:t>Zod</a:t>
            </a:r>
            <a:r>
              <a:rPr dirty="0"/>
              <a:t> y </a:t>
            </a:r>
            <a:r>
              <a:rPr dirty="0" err="1"/>
              <a:t>middlewares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aíslan</a:t>
            </a:r>
            <a:r>
              <a:rPr dirty="0"/>
              <a:t> el </a:t>
            </a:r>
            <a:r>
              <a:rPr dirty="0" err="1"/>
              <a:t>transporte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defRPr sz="950">
                <a:solidFill>
                  <a:srgbClr val="E2E8F0"/>
                </a:solidFill>
              </a:defRPr>
            </a:pPr>
            <a:r>
              <a:rPr dirty="0"/>
              <a:t>• Nivel 1: </a:t>
            </a:r>
            <a:r>
              <a:rPr dirty="0" err="1"/>
              <a:t>Dominio</a:t>
            </a:r>
            <a:r>
              <a:rPr dirty="0"/>
              <a:t> &amp; </a:t>
            </a:r>
            <a:r>
              <a:rPr dirty="0" err="1"/>
              <a:t>Negocio</a:t>
            </a:r>
            <a:r>
              <a:rPr dirty="0"/>
              <a:t>: </a:t>
            </a:r>
            <a:r>
              <a:rPr dirty="0" err="1"/>
              <a:t>Servicios</a:t>
            </a:r>
            <a:r>
              <a:rPr dirty="0"/>
              <a:t> puros (</a:t>
            </a:r>
            <a:r>
              <a:rPr dirty="0" err="1"/>
              <a:t>movimientos</a:t>
            </a:r>
            <a:r>
              <a:rPr dirty="0"/>
              <a:t>, </a:t>
            </a:r>
            <a:r>
              <a:rPr dirty="0" err="1"/>
              <a:t>cierres</a:t>
            </a:r>
            <a:r>
              <a:rPr dirty="0"/>
              <a:t>, </a:t>
            </a:r>
            <a:r>
              <a:rPr dirty="0" err="1"/>
              <a:t>ocr</a:t>
            </a:r>
            <a:r>
              <a:rPr dirty="0"/>
              <a:t>, </a:t>
            </a:r>
            <a:r>
              <a:rPr dirty="0" err="1"/>
              <a:t>usuarios</a:t>
            </a:r>
            <a:r>
              <a:rPr dirty="0"/>
              <a:t>) </a:t>
            </a:r>
            <a:r>
              <a:rPr dirty="0" err="1"/>
              <a:t>retornan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puros sin </a:t>
            </a:r>
            <a:r>
              <a:rPr dirty="0" err="1"/>
              <a:t>tocar</a:t>
            </a:r>
            <a:r>
              <a:rPr dirty="0"/>
              <a:t> HTTP.</a:t>
            </a:r>
          </a:p>
          <a:p>
            <a:pPr>
              <a:lnSpc>
                <a:spcPct val="200000"/>
              </a:lnSpc>
              <a:defRPr sz="950">
                <a:solidFill>
                  <a:srgbClr val="E2E8F0"/>
                </a:solidFill>
              </a:defRPr>
            </a:pPr>
            <a:r>
              <a:rPr dirty="0"/>
              <a:t>• Nivel 0: </a:t>
            </a:r>
            <a:r>
              <a:rPr dirty="0" err="1"/>
              <a:t>Persistencia</a:t>
            </a:r>
            <a:r>
              <a:rPr dirty="0"/>
              <a:t>: </a:t>
            </a:r>
            <a:r>
              <a:rPr dirty="0" err="1"/>
              <a:t>Esquemas</a:t>
            </a:r>
            <a:r>
              <a:rPr dirty="0"/>
              <a:t> Mongoose y </a:t>
            </a:r>
            <a:r>
              <a:rPr dirty="0" err="1"/>
              <a:t>clúster</a:t>
            </a:r>
            <a:r>
              <a:rPr dirty="0"/>
              <a:t> NoSQL de MongoDB Atlas </a:t>
            </a:r>
            <a:r>
              <a:rPr dirty="0" err="1"/>
              <a:t>abstraen</a:t>
            </a:r>
            <a:r>
              <a:rPr dirty="0"/>
              <a:t> el disco </a:t>
            </a:r>
            <a:r>
              <a:rPr dirty="0" err="1"/>
              <a:t>físico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16213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03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300" b="1">
                <a:solidFill>
                  <a:srgbClr val="10B981"/>
                </a:solidFill>
              </a:defRPr>
            </a:pPr>
            <a:r>
              <a:t>⚙️ PATRONES DE DISEÑO CLAVE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Fachada (Facade Pattern): BalanceSDK unifica y encapsula HttpClient, interceptores, estadísticas y 4 módulos de API en una sola clase.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Adaptador (Adapter Pattern): Capa *-adapter.js permite transición gradual entre servicios tradicionales y el nuevo SDK mediante Feature Flags.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Gateway / Strategy Pattern: Enrutador de pagos unifica Stripe, Flow.cl y Mercado Pago en contratos de transacción consistentes.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Pipeline Pattern (Visión/ML): Cadena secuencial de binarización Otsu, filtros OpenCV, extracción OCR y clasificación Bayesiana.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05. DIAGNÓSTICO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Auditoría de Abstracción: 5 Fugas y Deudas Identificadas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E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6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73352"/>
            <a:ext cx="100584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58191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Fuga #1: Dualidad de Consumo de Red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En movimientosService.js y reportesService.js coexiste un fallback de emergencia con fetch directo (apiCall), saltándose los adaptadores y estadísticas del SDK Balance.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633472"/>
            <a:ext cx="100584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4203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Fuga #2: Acoplamiento a localStorage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Llamadas dispersas directas a localStorage.getItem('token') en servicios en lugar de utilizar un TokenStorageProvider desacoplado para web y móvil.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3593592"/>
            <a:ext cx="100584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0215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Fuga #3: Validación Duplicada Asimétrica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Reglas de negocio validadas por duplicado en los esquemas declarativos Zod (middleware) e imperativamente dentro de movimientos.service.js.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4553712"/>
            <a:ext cx="100584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46227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Fuga #4: Violación DRY en Verificación de Claves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Lógica bcrypt.compare repetida textualmente en 3 servicios distintos en lugar de delegarla al método de instancia usuario.verificarPassword().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5513832"/>
            <a:ext cx="100584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4223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Fuga #5: Presencia de Números Mágicos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Valores literales sin nombrar dispersos en el código: 1000 (caja chica), 2 (meses M-2), 5 (cuota free OCR) y '7d' (expiración JWT).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06. ASEGURAMIENTO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Cobertura de Pruebas &amp; Plan de Hardening (Sprint 7)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E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7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1621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303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300" b="1">
                <a:solidFill>
                  <a:srgbClr val="06B6D4"/>
                </a:solidFill>
              </a:defRPr>
            </a:pPr>
            <a:r>
              <a:t>🧪 COBERTURA Y VALIDACIÓN ACTUAL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Backend Suites Jest: 12 suites de prueba y 29 tests automatizados cubriendo auth, movimientos, cierres, pagos y seguridad.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SDK Testing Paralelo: 66 pruebas de integración y estrés ejecutadas (6/6 rápido, 10/10 completo, 50/50 estrés) con 100% éxito.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Auditoría de Seguridad: Source-to-Sink exhaustivo con remediación de 12 vulnerabilidades (IDOR, Secretos JWT, NoSQL Injection, HMAC).</a:t>
            </a:r>
          </a:p>
          <a:p>
            <a:pPr>
              <a:lnSpc>
                <a:spcPct val="200000"/>
              </a:lnSpc>
              <a:defRPr sz="1050">
                <a:solidFill>
                  <a:srgbClr val="E2E8F0"/>
                </a:solidFill>
              </a:defRPr>
            </a:pPr>
            <a:r>
              <a:t>✓ Observabilidad Activa: Sentry en tiempo real capturando trazas y Session Replays sin degradación de rendimiento.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16213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3527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300" b="1">
                <a:solidFill>
                  <a:srgbClr val="F59E0B"/>
                </a:solidFill>
              </a:defRPr>
            </a:pPr>
            <a:r>
              <a:t>🎯 ACTIVIDADES SPRINT 7 (HARDENING v1.4.0)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• 1. Tests Jest de Frontend (CP-38 a CP-42): Automatizar pruebas del Planificador de Compras y exclusión estricta de passwordHash en Perfil.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• 2. Ruta Independiente /planificador: Extraer el componente a PlanificadorPage.jsx con URL canónica protegida.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• 3. Eliminación Real de Cuenta: Conectar DELETE /api/usuarios/me con persistencia y purga controlada en base de datos.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• 4. Consolidar Consumo de SDK: Retirar el fallback de emergencia apiCall y unificar el cliente HTTP.</a:t>
            </a:r>
          </a:p>
          <a:p>
            <a:pPr>
              <a:lnSpc>
                <a:spcPct val="200000"/>
              </a:lnSpc>
              <a:defRPr sz="1000">
                <a:solidFill>
                  <a:srgbClr val="E2E8F0"/>
                </a:solidFill>
              </a:defRPr>
            </a:pPr>
            <a:r>
              <a:t>• 5. URLs de Producción: Actualizar dominios reales en DEPLOY_FRONTEND.md y DEPLOY_BACKEND.md.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07. CONCLUSIÓN &amp;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Dictamen Técnico Ejecutivo &amp; Siguiente Hito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2E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8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MADUREZ TÉCNICA (8.6 / 10)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FinanceFlow cuenta con un núcleo transaccional robusto, una arquitectura en 3 capas limpia y módulos de vanguardia (Gemini Vision + Naive Bayes) plenamente funcionales y auditados.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SEGURIDAD &amp; INTEGRIDAD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El sistema erradicó el 100% de vulnerabilidades críticas. La integridad contable está blindada mediante cierres de caja chica inmutables y autoarchivado M-2.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728655" cy="12344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SIGUIENTE HITO: PASE A PRODUCCIÓN (v1.4.0)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La ejecución del Sprint 7 cerrará las 4 deudas técnicas de hardening, formalizando la cobertura de pruebas al 100% y entregando una plataforma lista para el despliegue final.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FinanceFlow v1.3.0 • Escuela Profesional de Ingeniería de Sistemas • Universidad Privada de Tacna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1338</Words>
  <Application>Microsoft Office PowerPoint</Application>
  <PresentationFormat>Panorámica</PresentationFormat>
  <Paragraphs>117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2026-09-18T02:07:47Z</dcterms:modified>
  <cp:category/>
</cp:coreProperties>
</file>